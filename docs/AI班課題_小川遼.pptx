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8"/>
  </p:notesMasterIdLst>
  <p:sldIdLst>
    <p:sldId id="256" r:id="rId2"/>
    <p:sldId id="264" r:id="rId3"/>
    <p:sldId id="268" r:id="rId4"/>
    <p:sldId id="265" r:id="rId5"/>
    <p:sldId id="267" r:id="rId6"/>
    <p:sldId id="269" r:id="rId7"/>
  </p:sldIdLst>
  <p:sldSz cx="9144000" cy="6858000" type="screen4x3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16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33243-8F47-433B-AC0D-329B6A94C0A7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3013"/>
            <a:ext cx="447040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FDA59-A7D2-4571-B768-7785C7841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320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0" dirty="0"/>
              <a:t>→</a:t>
            </a:r>
            <a:r>
              <a:rPr lang="ja-JP" altLang="en-US" sz="1200" b="0" u="sng" dirty="0"/>
              <a:t>マーチャンダイジング</a:t>
            </a:r>
            <a:r>
              <a:rPr lang="ja-JP" altLang="en-US" sz="1200" b="0" dirty="0"/>
              <a:t>（</a:t>
            </a:r>
            <a:r>
              <a:rPr lang="en-US" altLang="ja-JP" sz="1200" b="0" dirty="0"/>
              <a:t>Merchandising</a:t>
            </a:r>
            <a:r>
              <a:rPr lang="ja-JP" altLang="en-US" sz="1200" b="0" dirty="0"/>
              <a:t>）の略</a:t>
            </a:r>
            <a:br>
              <a:rPr lang="en-US" altLang="ja-JP" sz="1200" b="0" dirty="0"/>
            </a:br>
            <a:r>
              <a:rPr lang="ja-JP" altLang="en-US" sz="1200" b="0" dirty="0"/>
              <a:t>　スーパーマーケット等の小売業で主に言われている</a:t>
            </a:r>
            <a:br>
              <a:rPr lang="en-US" altLang="ja-JP" sz="1200" b="0" dirty="0"/>
            </a:br>
            <a:r>
              <a:rPr lang="ja-JP" altLang="en-US" sz="1200" b="0" dirty="0"/>
              <a:t>→商品の仕入れ、物流、販売、在庫、等の計画・管理</a:t>
            </a:r>
            <a:br>
              <a:rPr lang="en-US" altLang="ja-JP" sz="1200" b="0" dirty="0"/>
            </a:br>
            <a:r>
              <a:rPr lang="ja-JP" altLang="en-US" sz="1200" b="0" dirty="0"/>
              <a:t>　を</a:t>
            </a:r>
            <a:r>
              <a:rPr lang="en-US" altLang="ja-JP" sz="1200" b="0" dirty="0"/>
              <a:t>ICT</a:t>
            </a:r>
            <a:r>
              <a:rPr lang="ja-JP" altLang="en-US" sz="1200" b="0" dirty="0"/>
              <a:t>技術を活用して支援する</a:t>
            </a:r>
            <a:r>
              <a:rPr lang="en-US" altLang="ja-JP" sz="1200" b="0" u="sng" dirty="0"/>
              <a:t>MD</a:t>
            </a:r>
            <a:r>
              <a:rPr lang="ja-JP" altLang="en-US" sz="1200" b="0" u="sng" dirty="0"/>
              <a:t>システム</a:t>
            </a:r>
            <a:r>
              <a:rPr lang="ja-JP" altLang="en-US" sz="1200" b="0" dirty="0"/>
              <a:t>がある</a:t>
            </a:r>
            <a:endParaRPr kumimoji="1" lang="en-US" altLang="ja-JP" sz="1200" b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FDA59-A7D2-4571-B768-7785C784140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276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F1DF7-054E-C29F-A684-15B96B4F2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7351E0B-A066-FCB3-2021-65F122580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6B5FD96-388E-A550-62D0-CD83791F3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0" dirty="0"/>
              <a:t>→</a:t>
            </a:r>
            <a:r>
              <a:rPr lang="ja-JP" altLang="en-US" sz="1200" b="0" u="sng" dirty="0"/>
              <a:t>マーチャンダイジング</a:t>
            </a:r>
            <a:r>
              <a:rPr lang="ja-JP" altLang="en-US" sz="1200" b="0" dirty="0"/>
              <a:t>（</a:t>
            </a:r>
            <a:r>
              <a:rPr lang="en-US" altLang="ja-JP" sz="1200" b="0" dirty="0"/>
              <a:t>Merchandising</a:t>
            </a:r>
            <a:r>
              <a:rPr lang="ja-JP" altLang="en-US" sz="1200" b="0" dirty="0"/>
              <a:t>）の略</a:t>
            </a:r>
            <a:br>
              <a:rPr lang="en-US" altLang="ja-JP" sz="1200" b="0" dirty="0"/>
            </a:br>
            <a:r>
              <a:rPr lang="ja-JP" altLang="en-US" sz="1200" b="0" dirty="0"/>
              <a:t>　スーパーマーケット等の小売業で主に言われている</a:t>
            </a:r>
            <a:br>
              <a:rPr lang="en-US" altLang="ja-JP" sz="1200" b="0" dirty="0"/>
            </a:br>
            <a:r>
              <a:rPr lang="ja-JP" altLang="en-US" sz="1200" b="0" dirty="0"/>
              <a:t>→商品の仕入れ、物流、販売、在庫、等の計画・管理</a:t>
            </a:r>
            <a:br>
              <a:rPr lang="en-US" altLang="ja-JP" sz="1200" b="0" dirty="0"/>
            </a:br>
            <a:r>
              <a:rPr lang="ja-JP" altLang="en-US" sz="1200" b="0" dirty="0"/>
              <a:t>　を</a:t>
            </a:r>
            <a:r>
              <a:rPr lang="en-US" altLang="ja-JP" sz="1200" b="0" dirty="0"/>
              <a:t>ICT</a:t>
            </a:r>
            <a:r>
              <a:rPr lang="ja-JP" altLang="en-US" sz="1200" b="0" dirty="0"/>
              <a:t>技術を活用して支援する</a:t>
            </a:r>
            <a:r>
              <a:rPr lang="en-US" altLang="ja-JP" sz="1200" b="0" u="sng" dirty="0"/>
              <a:t>MD</a:t>
            </a:r>
            <a:r>
              <a:rPr lang="ja-JP" altLang="en-US" sz="1200" b="0" u="sng" dirty="0"/>
              <a:t>システム</a:t>
            </a:r>
            <a:r>
              <a:rPr lang="ja-JP" altLang="en-US" sz="1200" b="0" dirty="0"/>
              <a:t>がある</a:t>
            </a:r>
            <a:endParaRPr kumimoji="1" lang="en-US" altLang="ja-JP" sz="1200" b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742C19-8C19-82C4-B8BE-5518C0B63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FDA59-A7D2-4571-B768-7785C784140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2861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2EC6D-80E9-662F-C009-EFB23B57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2A3F674-EEC6-CEFD-D74B-1590A0E7B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B8641B3-43A1-C58C-510F-D102BFC51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0" dirty="0"/>
              <a:t>→</a:t>
            </a:r>
            <a:r>
              <a:rPr lang="ja-JP" altLang="en-US" sz="1200" b="0" u="sng" dirty="0"/>
              <a:t>マーチャンダイジング</a:t>
            </a:r>
            <a:r>
              <a:rPr lang="ja-JP" altLang="en-US" sz="1200" b="0" dirty="0"/>
              <a:t>（</a:t>
            </a:r>
            <a:r>
              <a:rPr lang="en-US" altLang="ja-JP" sz="1200" b="0" dirty="0"/>
              <a:t>Merchandising</a:t>
            </a:r>
            <a:r>
              <a:rPr lang="ja-JP" altLang="en-US" sz="1200" b="0" dirty="0"/>
              <a:t>）の略</a:t>
            </a:r>
            <a:br>
              <a:rPr lang="en-US" altLang="ja-JP" sz="1200" b="0" dirty="0"/>
            </a:br>
            <a:r>
              <a:rPr lang="ja-JP" altLang="en-US" sz="1200" b="0" dirty="0"/>
              <a:t>　スーパーマーケット等の小売業で主に言われている</a:t>
            </a:r>
            <a:br>
              <a:rPr lang="en-US" altLang="ja-JP" sz="1200" b="0" dirty="0"/>
            </a:br>
            <a:r>
              <a:rPr lang="ja-JP" altLang="en-US" sz="1200" b="0" dirty="0"/>
              <a:t>→商品の仕入れ、物流、販売、在庫、等の計画・管理</a:t>
            </a:r>
            <a:br>
              <a:rPr lang="en-US" altLang="ja-JP" sz="1200" b="0" dirty="0"/>
            </a:br>
            <a:r>
              <a:rPr lang="ja-JP" altLang="en-US" sz="1200" b="0" dirty="0"/>
              <a:t>　を</a:t>
            </a:r>
            <a:r>
              <a:rPr lang="en-US" altLang="ja-JP" sz="1200" b="0" dirty="0"/>
              <a:t>ICT</a:t>
            </a:r>
            <a:r>
              <a:rPr lang="ja-JP" altLang="en-US" sz="1200" b="0" dirty="0"/>
              <a:t>技術を活用して支援する</a:t>
            </a:r>
            <a:r>
              <a:rPr lang="en-US" altLang="ja-JP" sz="1200" b="0" u="sng" dirty="0"/>
              <a:t>MD</a:t>
            </a:r>
            <a:r>
              <a:rPr lang="ja-JP" altLang="en-US" sz="1200" b="0" u="sng" dirty="0"/>
              <a:t>システム</a:t>
            </a:r>
            <a:r>
              <a:rPr lang="ja-JP" altLang="en-US" sz="1200" b="0" dirty="0"/>
              <a:t>がある</a:t>
            </a:r>
            <a:endParaRPr kumimoji="1" lang="en-US" altLang="ja-JP" sz="1200" b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20541BF-3EF9-EFDD-6E74-4158BD9EC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FDA59-A7D2-4571-B768-7785C784140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536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DD715-A633-7138-45BA-E85016F11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D4C0449-1A05-C8FB-63C6-74B12C3F4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F07B5E8-B97E-760A-89B2-C5329E054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0" dirty="0"/>
              <a:t>→</a:t>
            </a:r>
            <a:r>
              <a:rPr lang="ja-JP" altLang="en-US" sz="1200" b="0" u="sng" dirty="0"/>
              <a:t>マーチャンダイジング</a:t>
            </a:r>
            <a:r>
              <a:rPr lang="ja-JP" altLang="en-US" sz="1200" b="0" dirty="0"/>
              <a:t>（</a:t>
            </a:r>
            <a:r>
              <a:rPr lang="en-US" altLang="ja-JP" sz="1200" b="0" dirty="0"/>
              <a:t>Merchandising</a:t>
            </a:r>
            <a:r>
              <a:rPr lang="ja-JP" altLang="en-US" sz="1200" b="0" dirty="0"/>
              <a:t>）の略</a:t>
            </a:r>
            <a:br>
              <a:rPr lang="en-US" altLang="ja-JP" sz="1200" b="0" dirty="0"/>
            </a:br>
            <a:r>
              <a:rPr lang="ja-JP" altLang="en-US" sz="1200" b="0" dirty="0"/>
              <a:t>　スーパーマーケット等の小売業で主に言われている</a:t>
            </a:r>
            <a:br>
              <a:rPr lang="en-US" altLang="ja-JP" sz="1200" b="0" dirty="0"/>
            </a:br>
            <a:r>
              <a:rPr lang="ja-JP" altLang="en-US" sz="1200" b="0" dirty="0"/>
              <a:t>→商品の仕入れ、物流、販売、在庫、等の計画・管理</a:t>
            </a:r>
            <a:br>
              <a:rPr lang="en-US" altLang="ja-JP" sz="1200" b="0" dirty="0"/>
            </a:br>
            <a:r>
              <a:rPr lang="ja-JP" altLang="en-US" sz="1200" b="0" dirty="0"/>
              <a:t>　を</a:t>
            </a:r>
            <a:r>
              <a:rPr lang="en-US" altLang="ja-JP" sz="1200" b="0" dirty="0"/>
              <a:t>ICT</a:t>
            </a:r>
            <a:r>
              <a:rPr lang="ja-JP" altLang="en-US" sz="1200" b="0" dirty="0"/>
              <a:t>技術を活用して支援する</a:t>
            </a:r>
            <a:r>
              <a:rPr lang="en-US" altLang="ja-JP" sz="1200" b="0" u="sng" dirty="0"/>
              <a:t>MD</a:t>
            </a:r>
            <a:r>
              <a:rPr lang="ja-JP" altLang="en-US" sz="1200" b="0" u="sng" dirty="0"/>
              <a:t>システム</a:t>
            </a:r>
            <a:r>
              <a:rPr lang="ja-JP" altLang="en-US" sz="1200" b="0" dirty="0"/>
              <a:t>がある</a:t>
            </a:r>
            <a:endParaRPr kumimoji="1" lang="en-US" altLang="ja-JP" sz="1200" b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C71B43-C01B-816C-187E-66A8C71FCE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FDA59-A7D2-4571-B768-7785C784140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046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3489-FF06-9C5D-6B27-AFD0BC216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B5FF341-B64A-1856-DB7D-CEE8D5027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2B65166-CCE5-B835-BDF7-65BA8FD84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0" dirty="0"/>
              <a:t>→</a:t>
            </a:r>
            <a:r>
              <a:rPr lang="ja-JP" altLang="en-US" sz="1200" b="0" u="sng" dirty="0"/>
              <a:t>マーチャンダイジング</a:t>
            </a:r>
            <a:r>
              <a:rPr lang="ja-JP" altLang="en-US" sz="1200" b="0" dirty="0"/>
              <a:t>（</a:t>
            </a:r>
            <a:r>
              <a:rPr lang="en-US" altLang="ja-JP" sz="1200" b="0" dirty="0"/>
              <a:t>Merchandising</a:t>
            </a:r>
            <a:r>
              <a:rPr lang="ja-JP" altLang="en-US" sz="1200" b="0" dirty="0"/>
              <a:t>）の略</a:t>
            </a:r>
            <a:br>
              <a:rPr lang="en-US" altLang="ja-JP" sz="1200" b="0" dirty="0"/>
            </a:br>
            <a:r>
              <a:rPr lang="ja-JP" altLang="en-US" sz="1200" b="0" dirty="0"/>
              <a:t>　スーパーマーケット等の小売業で主に言われている</a:t>
            </a:r>
            <a:br>
              <a:rPr lang="en-US" altLang="ja-JP" sz="1200" b="0" dirty="0"/>
            </a:br>
            <a:r>
              <a:rPr lang="ja-JP" altLang="en-US" sz="1200" b="0" dirty="0"/>
              <a:t>→商品の仕入れ、物流、販売、在庫、等の計画・管理</a:t>
            </a:r>
            <a:br>
              <a:rPr lang="en-US" altLang="ja-JP" sz="1200" b="0" dirty="0"/>
            </a:br>
            <a:r>
              <a:rPr lang="ja-JP" altLang="en-US" sz="1200" b="0" dirty="0"/>
              <a:t>　を</a:t>
            </a:r>
            <a:r>
              <a:rPr lang="en-US" altLang="ja-JP" sz="1200" b="0" dirty="0"/>
              <a:t>ICT</a:t>
            </a:r>
            <a:r>
              <a:rPr lang="ja-JP" altLang="en-US" sz="1200" b="0" dirty="0"/>
              <a:t>技術を活用して支援する</a:t>
            </a:r>
            <a:r>
              <a:rPr lang="en-US" altLang="ja-JP" sz="1200" b="0" u="sng" dirty="0"/>
              <a:t>MD</a:t>
            </a:r>
            <a:r>
              <a:rPr lang="ja-JP" altLang="en-US" sz="1200" b="0" u="sng" dirty="0"/>
              <a:t>システム</a:t>
            </a:r>
            <a:r>
              <a:rPr lang="ja-JP" altLang="en-US" sz="1200" b="0" dirty="0"/>
              <a:t>がある</a:t>
            </a:r>
            <a:endParaRPr kumimoji="1" lang="en-US" altLang="ja-JP" sz="1200" b="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7D9DCA-42DE-1C93-2111-8F64CB68B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FDA59-A7D2-4571-B768-7785C784140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9036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94E2F4-5DEF-58E9-475B-3909E9F8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1A194FE-8163-4FFC-B9F9-14824D1FCE18}" type="datetime1">
              <a:rPr lang="ja-JP" altLang="en-US" smtClean="0"/>
              <a:pPr/>
              <a:t>2026/5/14</a:t>
            </a:fld>
            <a:r>
              <a:rPr lang="ja-JP" altLang="en-US" dirty="0"/>
              <a:t>   早稲田大学 石田航星研究室</a:t>
            </a:r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50A44B-C4C8-822D-7833-40B385D25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ja-JP" dirty="0"/>
              <a:t>-BIM</a:t>
            </a:r>
            <a:r>
              <a:rPr lang="ja-JP" altLang="en-US" dirty="0"/>
              <a:t>と</a:t>
            </a:r>
            <a:r>
              <a:rPr lang="en-US" altLang="ja-JP" dirty="0"/>
              <a:t>MD</a:t>
            </a:r>
            <a:r>
              <a:rPr lang="ja-JP" altLang="en-US" dirty="0"/>
              <a:t>の統合に関する研究</a:t>
            </a:r>
            <a:r>
              <a:rPr lang="en-US" altLang="ja-JP" dirty="0"/>
              <a:t>-</a:t>
            </a:r>
            <a:r>
              <a:rPr lang="ja-JP" altLang="en-US" dirty="0"/>
              <a:t>  </a:t>
            </a:r>
            <a:r>
              <a:rPr lang="en-US" altLang="ja-JP" dirty="0"/>
              <a:t>1X21A040 </a:t>
            </a:r>
            <a:r>
              <a:rPr lang="ja-JP" altLang="en-US" dirty="0"/>
              <a:t>小川 遼</a:t>
            </a:r>
            <a:r>
              <a:rPr lang="en-US" altLang="ja-JP" dirty="0"/>
              <a:t> 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C18A04-6143-2F81-E800-022B90B6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68605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3A6742-0BAD-4F8A-8C3F-24E1698D6075}" type="slidenum">
              <a:rPr lang="ja-JP" altLang="en-US" smtClean="0"/>
              <a:pPr/>
              <a:t>‹#›</a:t>
            </a:fld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F4DCB2E-069B-12A5-B0E8-24F23F0B69E9}"/>
              </a:ext>
            </a:extLst>
          </p:cNvPr>
          <p:cNvSpPr txBox="1"/>
          <p:nvPr userDrawn="1"/>
        </p:nvSpPr>
        <p:spPr>
          <a:xfrm>
            <a:off x="2004291" y="36020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4931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03F804-4625-1280-DF8D-DB104A42B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25090"/>
            <a:ext cx="7886700" cy="1325563"/>
          </a:xfrm>
        </p:spPr>
        <p:txBody>
          <a:bodyPr/>
          <a:lstStyle>
            <a:lvl1pPr algn="l">
              <a:defRPr b="1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E80B45-B500-4F03-EF32-C7F77D6AA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7939"/>
            <a:ext cx="7886700" cy="4869024"/>
          </a:xfrm>
        </p:spPr>
        <p:txBody>
          <a:bodyPr/>
          <a:lstStyle>
            <a:lvl1pPr>
              <a:defRPr b="1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1A75CF-9B05-3948-56EF-734A35008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32D122-4A12-443E-AFFA-00859818A4C8}" type="datetime1">
              <a:rPr lang="ja-JP" altLang="en-US" smtClean="0"/>
              <a:pPr/>
              <a:t>2026/5/14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7C87CA-A9F3-B4D7-F659-D72C3A54B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ja-JP" dirty="0"/>
              <a:t>-BIM</a:t>
            </a:r>
            <a:r>
              <a:rPr lang="ja-JP" altLang="en-US" dirty="0"/>
              <a:t>と</a:t>
            </a:r>
            <a:r>
              <a:rPr lang="en-US" altLang="ja-JP" dirty="0"/>
              <a:t>MD</a:t>
            </a:r>
            <a:r>
              <a:rPr lang="ja-JP" altLang="en-US" dirty="0"/>
              <a:t>の統合に関する研究</a:t>
            </a:r>
            <a:r>
              <a:rPr lang="en-US" altLang="ja-JP" dirty="0"/>
              <a:t>-</a:t>
            </a:r>
            <a:r>
              <a:rPr lang="ja-JP" altLang="en-US" dirty="0"/>
              <a:t>  </a:t>
            </a:r>
            <a:r>
              <a:rPr lang="en-US" altLang="ja-JP" dirty="0"/>
              <a:t>1X21A040 </a:t>
            </a:r>
            <a:r>
              <a:rPr lang="ja-JP" altLang="en-US" dirty="0"/>
              <a:t>小川 遼</a:t>
            </a:r>
            <a:r>
              <a:rPr lang="en-US" altLang="ja-JP" dirty="0"/>
              <a:t> 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ABED23-8541-ABD4-5C32-531081D2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3A6742-0BAD-4F8A-8C3F-24E1698D607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1959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32A415D-E0DD-2F83-0CB2-FACD75F20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44081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A5C0CA-BC82-8B7D-32F9-78D6852F6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0871A1-5134-C0A9-43EB-61FE07C0F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356351"/>
            <a:ext cx="2686050" cy="3651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7414664B-0BB6-4D21-B4EA-674FCD1F2EEB}" type="datetime1">
              <a:rPr lang="ja-JP" altLang="en-US" smtClean="0"/>
              <a:pPr/>
              <a:t>2026/5/14</a:t>
            </a:fld>
            <a:r>
              <a:rPr lang="ja-JP" altLang="en-US" dirty="0"/>
              <a:t>　早稲田大学 石田航星研究室</a:t>
            </a:r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E7D770-40DC-76DA-7DDB-46CA7519FA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3891" y="6356351"/>
            <a:ext cx="3844059" cy="365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altLang="ja-JP" dirty="0"/>
              <a:t>-BIM</a:t>
            </a:r>
            <a:r>
              <a:rPr lang="ja-JP" altLang="en-US" dirty="0"/>
              <a:t>と</a:t>
            </a:r>
            <a:r>
              <a:rPr lang="en-US" altLang="ja-JP" dirty="0"/>
              <a:t>MD</a:t>
            </a:r>
            <a:r>
              <a:rPr lang="ja-JP" altLang="en-US" dirty="0"/>
              <a:t>の統合に関する研究</a:t>
            </a:r>
            <a:r>
              <a:rPr lang="en-US" altLang="ja-JP" dirty="0"/>
              <a:t>-</a:t>
            </a:r>
            <a:r>
              <a:rPr lang="ja-JP" altLang="en-US" dirty="0"/>
              <a:t>  </a:t>
            </a:r>
            <a:r>
              <a:rPr lang="en-US" altLang="ja-JP" dirty="0"/>
              <a:t>1X21A040 </a:t>
            </a:r>
            <a:r>
              <a:rPr lang="ja-JP" altLang="en-US" dirty="0"/>
              <a:t>小川 遼</a:t>
            </a:r>
            <a:r>
              <a:rPr lang="en-US" altLang="ja-JP" dirty="0"/>
              <a:t> 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D26F57-9F9E-2053-F043-49BDD5F24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686050" cy="3651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283A6742-0BAD-4F8A-8C3F-24E1698D6075}" type="slidenum">
              <a:rPr lang="ja-JP" altLang="en-US" smtClean="0"/>
              <a:pPr/>
              <a:t>‹#›</a:t>
            </a:fld>
            <a:endParaRPr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98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</p:sldLayoutIdLst>
  <p:hf hdr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985458-6646-6895-145D-0EADBDA40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C518-1EEA-4395-8977-2F60694DF905}" type="datetime1">
              <a:rPr kumimoji="1" lang="ja-JP" altLang="en-US" smtClean="0"/>
              <a:t>2026/5/14</a:t>
            </a:fld>
            <a:r>
              <a:rPr kumimoji="1" lang="ja-JP" altLang="en-US" dirty="0"/>
              <a:t>　</a:t>
            </a:r>
            <a:r>
              <a:rPr lang="ja-JP" altLang="en-US" dirty="0"/>
              <a:t>早稲田大学 石田航星研究室</a:t>
            </a:r>
            <a:endParaRPr kumimoji="1" lang="ja-JP" alt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FA324F-E99D-1CCC-61BF-61184B8F1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3891" y="6356349"/>
            <a:ext cx="3844059" cy="365125"/>
          </a:xfrm>
        </p:spPr>
        <p:txBody>
          <a:bodyPr/>
          <a:lstStyle/>
          <a:p>
            <a:r>
              <a:rPr lang="en-US" altLang="ja-JP"/>
              <a:t>1X21A040 </a:t>
            </a:r>
            <a:r>
              <a:rPr lang="ja-JP" altLang="en-US" dirty="0"/>
              <a:t>小川 遼</a:t>
            </a:r>
            <a:r>
              <a:rPr lang="en-US" altLang="ja-JP" dirty="0"/>
              <a:t> </a:t>
            </a:r>
            <a:endParaRPr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51CD71-1DD6-54FA-1B29-48C26329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6742-0BAD-4F8A-8C3F-24E1698D6075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831A57D9-4F8A-2D39-00F6-FB4CB742C482}"/>
              </a:ext>
            </a:extLst>
          </p:cNvPr>
          <p:cNvSpPr txBox="1">
            <a:spLocks/>
          </p:cNvSpPr>
          <p:nvPr/>
        </p:nvSpPr>
        <p:spPr>
          <a:xfrm>
            <a:off x="3379643" y="5795252"/>
            <a:ext cx="6858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b="1" dirty="0"/>
              <a:t>1X21A040  </a:t>
            </a:r>
            <a:r>
              <a:rPr lang="ja-JP" altLang="en-US" b="1" dirty="0"/>
              <a:t>小川 遼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EB531FD-3A46-658C-9220-B7586F6E108B}"/>
              </a:ext>
            </a:extLst>
          </p:cNvPr>
          <p:cNvSpPr txBox="1"/>
          <p:nvPr/>
        </p:nvSpPr>
        <p:spPr>
          <a:xfrm>
            <a:off x="1343025" y="4988320"/>
            <a:ext cx="8894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800" b="1" i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3D Driving Simulator</a:t>
            </a:r>
            <a:endParaRPr kumimoji="1" lang="ja-JP" altLang="en-US" sz="4800" b="1" i="1" dirty="0">
              <a:latin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4C00657-6038-6535-F86A-9A9ED13118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32" t="4167" r="11579" b="26172"/>
          <a:stretch>
            <a:fillRect/>
          </a:stretch>
        </p:blipFill>
        <p:spPr>
          <a:xfrm>
            <a:off x="188760" y="419100"/>
            <a:ext cx="8766480" cy="4619374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C47C46-484E-0733-91D9-EC84669BE43F}"/>
              </a:ext>
            </a:extLst>
          </p:cNvPr>
          <p:cNvSpPr txBox="1"/>
          <p:nvPr/>
        </p:nvSpPr>
        <p:spPr>
          <a:xfrm>
            <a:off x="3110572" y="82549"/>
            <a:ext cx="6337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u="sng" dirty="0"/>
              <a:t>https://github.com/OgawaRyo22/3d-driving-simulator</a:t>
            </a:r>
          </a:p>
        </p:txBody>
      </p:sp>
    </p:spTree>
    <p:extLst>
      <p:ext uri="{BB962C8B-B14F-4D97-AF65-F5344CB8AC3E}">
        <p14:creationId xmlns:p14="http://schemas.microsoft.com/office/powerpoint/2010/main" val="17400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D6CD9C-C5A3-3484-8869-ACE812D4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75" y="-9340"/>
            <a:ext cx="7886700" cy="1325563"/>
          </a:xfrm>
        </p:spPr>
        <p:txBody>
          <a:bodyPr/>
          <a:lstStyle/>
          <a:p>
            <a:r>
              <a:rPr kumimoji="1" lang="en-US" altLang="ja-JP" dirty="0"/>
              <a:t>1.</a:t>
            </a:r>
            <a:r>
              <a:rPr lang="ja-JP" altLang="en-US" dirty="0"/>
              <a:t>ゲーム内容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BC927D-CAB1-AF29-CE25-3071A8427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24249"/>
            <a:ext cx="8515350" cy="5265119"/>
          </a:xfrm>
        </p:spPr>
        <p:txBody>
          <a:bodyPr anchor="t" anchorCtr="0">
            <a:normAutofit/>
          </a:bodyPr>
          <a:lstStyle/>
          <a:p>
            <a:r>
              <a:rPr lang="ja-JP" altLang="en-US" sz="2400" dirty="0"/>
              <a:t>運転練習ができるオープンワールドゲーム</a:t>
            </a:r>
            <a:br>
              <a:rPr lang="en-US" altLang="ja-JP" sz="2400" dirty="0"/>
            </a:br>
            <a:endParaRPr lang="en-US" altLang="ja-JP" sz="2400" b="0" dirty="0"/>
          </a:p>
          <a:p>
            <a:pPr marL="0" indent="0">
              <a:buNone/>
            </a:pPr>
            <a:endParaRPr lang="en-US" altLang="ja-JP" sz="2400" b="0" dirty="0"/>
          </a:p>
          <a:p>
            <a:pPr marL="0" indent="0">
              <a:buNone/>
            </a:pPr>
            <a:endParaRPr kumimoji="1" lang="en-US" altLang="ja-JP" sz="2400" b="0" dirty="0"/>
          </a:p>
          <a:p>
            <a:pPr marL="0" indent="0">
              <a:buNone/>
            </a:pPr>
            <a:endParaRPr lang="en-US" altLang="ja-JP" sz="2400" b="0" dirty="0"/>
          </a:p>
          <a:p>
            <a:pPr marL="0" indent="0">
              <a:buNone/>
            </a:pPr>
            <a:endParaRPr kumimoji="1" lang="ja-JP" altLang="en-US" sz="2400" b="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42D0A2-2F8E-750E-D3ED-65D0E7BB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D122-4A12-443E-AFFA-00859818A4C8}" type="datetime1">
              <a:rPr lang="ja-JP" altLang="en-US" smtClean="0"/>
              <a:pPr/>
              <a:t>2026/5/14</a:t>
            </a:fld>
            <a:r>
              <a:rPr lang="ja-JP" altLang="en-US" dirty="0"/>
              <a:t>　早稲田大学 石田航星研究室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1149D3-E761-F6F3-40C0-F0B4427A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1X21A040 </a:t>
            </a:r>
            <a:r>
              <a:rPr lang="ja-JP" altLang="en-US" dirty="0"/>
              <a:t>小川 遼</a:t>
            </a:r>
            <a:r>
              <a:rPr lang="en-US" altLang="ja-JP" dirty="0"/>
              <a:t> 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487BA1-AF45-8121-086C-560F95C6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6742-0BAD-4F8A-8C3F-24E1698D6075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E014B3F-FA5C-2E74-A7A3-087247EFA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28" y="1822237"/>
            <a:ext cx="8330343" cy="414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35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FA3A8-4CDD-C4F6-4648-837F28CCC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1B0AF0-ED87-6F82-89E5-3CF68CE8C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75" y="-9340"/>
            <a:ext cx="7886700" cy="1325563"/>
          </a:xfrm>
        </p:spPr>
        <p:txBody>
          <a:bodyPr/>
          <a:lstStyle/>
          <a:p>
            <a:r>
              <a:rPr kumimoji="1" lang="en-US" altLang="ja-JP" dirty="0"/>
              <a:t>1.</a:t>
            </a:r>
            <a:r>
              <a:rPr lang="ja-JP" altLang="en-US" dirty="0"/>
              <a:t>ゲーム内容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8115F0-FA33-54D4-561A-CBA2F6742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43775"/>
            <a:ext cx="8515350" cy="5265119"/>
          </a:xfrm>
        </p:spPr>
        <p:txBody>
          <a:bodyPr anchor="t" anchorCtr="0">
            <a:normAutofit/>
          </a:bodyPr>
          <a:lstStyle/>
          <a:p>
            <a:r>
              <a:rPr lang="ja-JP" altLang="en-US" sz="2400" dirty="0"/>
              <a:t>車両は全</a:t>
            </a:r>
            <a:r>
              <a:rPr lang="en-US" altLang="ja-JP" sz="2400" dirty="0"/>
              <a:t>30</a:t>
            </a:r>
            <a:r>
              <a:rPr lang="ja-JP" altLang="en-US" sz="2400" dirty="0"/>
              <a:t>種類以上！！</a:t>
            </a:r>
            <a:endParaRPr lang="en-US" altLang="ja-JP" sz="2400" dirty="0"/>
          </a:p>
          <a:p>
            <a:endParaRPr lang="en-US" altLang="ja-JP" sz="2400" dirty="0"/>
          </a:p>
          <a:p>
            <a:endParaRPr lang="en-US" altLang="ja-JP" sz="2400" dirty="0"/>
          </a:p>
          <a:p>
            <a:endParaRPr lang="en-US" altLang="ja-JP" sz="2400" dirty="0"/>
          </a:p>
          <a:p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r>
              <a:rPr lang="ja-JP" altLang="en-US" sz="2400" dirty="0"/>
              <a:t>コースは全</a:t>
            </a:r>
            <a:r>
              <a:rPr lang="en-US" altLang="ja-JP" sz="2400" dirty="0"/>
              <a:t>6</a:t>
            </a:r>
            <a:r>
              <a:rPr lang="ja-JP" altLang="en-US" sz="2400" dirty="0"/>
              <a:t>種類！！</a:t>
            </a:r>
            <a:br>
              <a:rPr lang="en-US" altLang="ja-JP" sz="2400" dirty="0"/>
            </a:br>
            <a:endParaRPr lang="en-US" altLang="ja-JP" sz="2400" b="0" dirty="0"/>
          </a:p>
          <a:p>
            <a:pPr marL="0" indent="0">
              <a:buNone/>
            </a:pPr>
            <a:endParaRPr lang="en-US" altLang="ja-JP" sz="2400" b="0" dirty="0"/>
          </a:p>
          <a:p>
            <a:pPr marL="0" indent="0">
              <a:buNone/>
            </a:pPr>
            <a:endParaRPr kumimoji="1" lang="en-US" altLang="ja-JP" sz="2400" b="0" dirty="0"/>
          </a:p>
          <a:p>
            <a:pPr marL="0" indent="0">
              <a:buNone/>
            </a:pPr>
            <a:endParaRPr lang="en-US" altLang="ja-JP" sz="2400" b="0" dirty="0"/>
          </a:p>
          <a:p>
            <a:pPr marL="0" indent="0">
              <a:buNone/>
            </a:pPr>
            <a:endParaRPr kumimoji="1" lang="ja-JP" altLang="en-US" sz="2400" b="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D5983D-42FB-3A02-3D9C-BA91D52AB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D122-4A12-443E-AFFA-00859818A4C8}" type="datetime1">
              <a:rPr lang="ja-JP" altLang="en-US" smtClean="0"/>
              <a:pPr/>
              <a:t>2026/5/14</a:t>
            </a:fld>
            <a:r>
              <a:rPr lang="ja-JP" altLang="en-US" dirty="0"/>
              <a:t>　早稲田大学 石田航星研究室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616CD4-E560-A55C-066B-3C0DA892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1X21A040 </a:t>
            </a:r>
            <a:r>
              <a:rPr lang="ja-JP" altLang="en-US" dirty="0"/>
              <a:t>小川 遼</a:t>
            </a:r>
            <a:r>
              <a:rPr lang="en-US" altLang="ja-JP" dirty="0"/>
              <a:t> 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3FC259-DB03-40A3-B7DA-0D0A356C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6742-0BAD-4F8A-8C3F-24E1698D6075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8C793DA-E586-68C9-145B-85363173E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52" y="1494814"/>
            <a:ext cx="1918109" cy="162068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9CAAA027-0FF9-B414-115C-CD41C9F89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6268" y="1491654"/>
            <a:ext cx="2138583" cy="162590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2646011-F780-5BA2-DAD7-710DD9F5E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558" y="1489585"/>
            <a:ext cx="2085137" cy="162591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3D83B892-8E46-FB03-8A18-5478237B0F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7402" y="1489586"/>
            <a:ext cx="2467142" cy="162591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0D55CAF-2744-A240-6246-20E2107EAC4E}"/>
              </a:ext>
            </a:extLst>
          </p:cNvPr>
          <p:cNvSpPr txBox="1"/>
          <p:nvPr/>
        </p:nvSpPr>
        <p:spPr>
          <a:xfrm>
            <a:off x="8552" y="3115495"/>
            <a:ext cx="2289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セダン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792B1C0-7EF9-43B4-7046-E90A6CA533B2}"/>
              </a:ext>
            </a:extLst>
          </p:cNvPr>
          <p:cNvSpPr txBox="1"/>
          <p:nvPr/>
        </p:nvSpPr>
        <p:spPr>
          <a:xfrm>
            <a:off x="2108717" y="3115495"/>
            <a:ext cx="2289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スポーツカー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1548901-12C7-D866-F028-F96E40671648}"/>
              </a:ext>
            </a:extLst>
          </p:cNvPr>
          <p:cNvSpPr txBox="1"/>
          <p:nvPr/>
        </p:nvSpPr>
        <p:spPr>
          <a:xfrm>
            <a:off x="4301599" y="3136096"/>
            <a:ext cx="2289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/>
              <a:t>SUV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1D6B8D5-89D9-FE1C-4854-7682CFA5EAC8}"/>
              </a:ext>
            </a:extLst>
          </p:cNvPr>
          <p:cNvSpPr txBox="1"/>
          <p:nvPr/>
        </p:nvSpPr>
        <p:spPr>
          <a:xfrm>
            <a:off x="6656446" y="3115495"/>
            <a:ext cx="2289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大型トラック</a:t>
            </a:r>
            <a:br>
              <a:rPr kumimoji="1" lang="en-US" altLang="ja-JP" dirty="0"/>
            </a:br>
            <a:r>
              <a:rPr kumimoji="1" lang="en-US" altLang="ja-JP" dirty="0"/>
              <a:t>And more…</a:t>
            </a:r>
            <a:endParaRPr kumimoji="1" lang="ja-JP" altLang="en-US" dirty="0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24F11E0E-5592-9B15-1C62-FEA4D4AEEAC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2362"/>
          <a:stretch>
            <a:fillRect/>
          </a:stretch>
        </p:blipFill>
        <p:spPr>
          <a:xfrm>
            <a:off x="189452" y="4058289"/>
            <a:ext cx="1918109" cy="1680994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5935C02-A9AE-C87C-42A0-C981230EB61A}"/>
              </a:ext>
            </a:extLst>
          </p:cNvPr>
          <p:cNvSpPr txBox="1"/>
          <p:nvPr/>
        </p:nvSpPr>
        <p:spPr>
          <a:xfrm>
            <a:off x="0" y="5739283"/>
            <a:ext cx="2289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はじまりの地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46CC11ED-E193-228C-11E6-4DCDFAAC4FD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7068" r="24710" b="7737"/>
          <a:stretch>
            <a:fillRect/>
          </a:stretch>
        </p:blipFill>
        <p:spPr>
          <a:xfrm>
            <a:off x="2193092" y="4058289"/>
            <a:ext cx="2108508" cy="1680994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EBDB9C9-F2A6-E368-3DDF-D500FC3968CA}"/>
              </a:ext>
            </a:extLst>
          </p:cNvPr>
          <p:cNvSpPr txBox="1"/>
          <p:nvPr/>
        </p:nvSpPr>
        <p:spPr>
          <a:xfrm>
            <a:off x="2012546" y="5739283"/>
            <a:ext cx="2289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峠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EBCB048-69E7-D9B2-4811-816F75E763D2}"/>
              </a:ext>
            </a:extLst>
          </p:cNvPr>
          <p:cNvSpPr txBox="1"/>
          <p:nvPr/>
        </p:nvSpPr>
        <p:spPr>
          <a:xfrm>
            <a:off x="3867004" y="5739283"/>
            <a:ext cx="313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Neo</a:t>
            </a:r>
            <a:r>
              <a:rPr lang="ja-JP" altLang="en-US" dirty="0"/>
              <a:t> </a:t>
            </a:r>
            <a:r>
              <a:rPr lang="en-US" altLang="ja-JP" dirty="0"/>
              <a:t>Metropolitan</a:t>
            </a:r>
            <a:r>
              <a:rPr lang="ja-JP" altLang="en-US" dirty="0"/>
              <a:t> </a:t>
            </a:r>
            <a:r>
              <a:rPr lang="en-US" altLang="ja-JP" dirty="0"/>
              <a:t>City</a:t>
            </a:r>
            <a:endParaRPr kumimoji="1" lang="ja-JP" altLang="en-US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DABAC0B-E597-5070-7FC7-62E37D0D434A}"/>
              </a:ext>
            </a:extLst>
          </p:cNvPr>
          <p:cNvSpPr txBox="1"/>
          <p:nvPr/>
        </p:nvSpPr>
        <p:spPr>
          <a:xfrm>
            <a:off x="6233474" y="5765196"/>
            <a:ext cx="3134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サーキット</a:t>
            </a:r>
            <a:br>
              <a:rPr kumimoji="1" lang="en-US" altLang="ja-JP" dirty="0"/>
            </a:br>
            <a:r>
              <a:rPr kumimoji="1" lang="en-US" altLang="ja-JP" dirty="0"/>
              <a:t>And</a:t>
            </a:r>
            <a:r>
              <a:rPr lang="ja-JP" altLang="en-US" dirty="0"/>
              <a:t> </a:t>
            </a:r>
            <a:r>
              <a:rPr lang="en-US" altLang="ja-JP" dirty="0"/>
              <a:t>more…</a:t>
            </a:r>
            <a:endParaRPr kumimoji="1" lang="ja-JP" altLang="en-US" dirty="0"/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0069C93B-922D-5953-F938-DF3E90AC568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570"/>
          <a:stretch>
            <a:fillRect/>
          </a:stretch>
        </p:blipFill>
        <p:spPr>
          <a:xfrm>
            <a:off x="6567402" y="4002273"/>
            <a:ext cx="2467142" cy="1737010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320AD2AF-1552-6100-CBC5-9139AD1E389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928" r="13575"/>
          <a:stretch>
            <a:fillRect/>
          </a:stretch>
        </p:blipFill>
        <p:spPr>
          <a:xfrm>
            <a:off x="4397769" y="4058288"/>
            <a:ext cx="2090925" cy="168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10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A2DD1-B398-47F3-CA0B-C0D47083A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07BB3F-F023-291C-B3BA-1C6EC8A5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75" y="-9340"/>
            <a:ext cx="7886700" cy="1325563"/>
          </a:xfrm>
        </p:spPr>
        <p:txBody>
          <a:bodyPr/>
          <a:lstStyle/>
          <a:p>
            <a:r>
              <a:rPr kumimoji="1" lang="en-US" altLang="ja-JP" dirty="0"/>
              <a:t>2.</a:t>
            </a:r>
            <a:r>
              <a:rPr kumimoji="1" lang="ja-JP" altLang="en-US" dirty="0"/>
              <a:t>制作理由</a:t>
            </a:r>
            <a:r>
              <a:rPr lang="ja-JP" altLang="en-US" dirty="0"/>
              <a:t>・使用した技術と素材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13A456-DE41-4214-6074-7098C3E80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24249"/>
            <a:ext cx="8515350" cy="5265119"/>
          </a:xfrm>
        </p:spPr>
        <p:txBody>
          <a:bodyPr anchor="t" anchorCtr="0">
            <a:normAutofit/>
          </a:bodyPr>
          <a:lstStyle/>
          <a:p>
            <a:r>
              <a:rPr lang="ja-JP" altLang="en-US" sz="2400" dirty="0"/>
              <a:t>制作理由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b="0" dirty="0"/>
              <a:t>　→運転初心者が練習できる</a:t>
            </a:r>
            <a:r>
              <a:rPr lang="ja-JP" altLang="en-US" sz="2400" dirty="0"/>
              <a:t>教習所にあるような</a:t>
            </a:r>
            <a:br>
              <a:rPr lang="en-US" altLang="ja-JP" sz="2400" dirty="0"/>
            </a:br>
            <a:r>
              <a:rPr lang="ja-JP" altLang="en-US" sz="2400" b="0" dirty="0"/>
              <a:t>　　</a:t>
            </a:r>
            <a:r>
              <a:rPr lang="ja-JP" altLang="en-US" sz="2400" dirty="0"/>
              <a:t>運転シュミレーションゲーム</a:t>
            </a:r>
            <a:r>
              <a:rPr lang="ja-JP" altLang="en-US" sz="2400" b="0" dirty="0"/>
              <a:t>がほしかった</a:t>
            </a:r>
            <a:endParaRPr lang="en-US" altLang="ja-JP" sz="2400" b="0" dirty="0"/>
          </a:p>
          <a:p>
            <a:pPr marL="0" indent="0">
              <a:buNone/>
            </a:pPr>
            <a:endParaRPr lang="en-US" altLang="ja-JP" sz="2400" b="0" dirty="0"/>
          </a:p>
          <a:p>
            <a:r>
              <a:rPr lang="ja-JP" altLang="en-US" sz="2400" dirty="0"/>
              <a:t>使用技術・素材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b="0" dirty="0"/>
              <a:t>　→</a:t>
            </a:r>
            <a:r>
              <a:rPr lang="en-US" altLang="ja-JP" sz="2400" dirty="0"/>
              <a:t>Chat GPT</a:t>
            </a:r>
            <a:r>
              <a:rPr lang="ja-JP" altLang="en-US" sz="2400" b="0" dirty="0"/>
              <a:t>にゲームの指針・内容をプロンプトし</a:t>
            </a:r>
            <a:br>
              <a:rPr lang="en-US" altLang="ja-JP" sz="2400" b="0" dirty="0"/>
            </a:br>
            <a:r>
              <a:rPr lang="ja-JP" altLang="en-US" sz="2400" b="0" dirty="0"/>
              <a:t>　　自動でコードを生成</a:t>
            </a:r>
            <a:endParaRPr lang="en-US" altLang="ja-JP" sz="2400" b="0" dirty="0"/>
          </a:p>
          <a:p>
            <a:pPr marL="0" indent="0">
              <a:buNone/>
            </a:pPr>
            <a:r>
              <a:rPr lang="ja-JP" altLang="en-US" sz="2400" b="0" dirty="0"/>
              <a:t>　→</a:t>
            </a:r>
            <a:r>
              <a:rPr lang="en-US" altLang="ja-JP" sz="2400" dirty="0"/>
              <a:t>Three.js</a:t>
            </a:r>
            <a:r>
              <a:rPr lang="ja-JP" altLang="en-US" sz="2400" b="0" dirty="0"/>
              <a:t>を利用し</a:t>
            </a:r>
            <a:r>
              <a:rPr lang="en-US" altLang="ja-JP" sz="2400" b="0" dirty="0"/>
              <a:t>WEB</a:t>
            </a:r>
            <a:r>
              <a:rPr lang="ja-JP" altLang="en-US" sz="2400" b="0" dirty="0"/>
              <a:t>上で</a:t>
            </a:r>
            <a:r>
              <a:rPr lang="en-US" altLang="ja-JP" sz="2400" b="0" dirty="0"/>
              <a:t>3D</a:t>
            </a:r>
            <a:r>
              <a:rPr lang="ja-JP" altLang="en-US" sz="2400" b="0" dirty="0"/>
              <a:t>ゲームを出力</a:t>
            </a:r>
            <a:endParaRPr lang="en-US" altLang="ja-JP" sz="2400" b="0" dirty="0"/>
          </a:p>
          <a:p>
            <a:pPr marL="0" indent="0">
              <a:buNone/>
            </a:pPr>
            <a:r>
              <a:rPr lang="ja-JP" altLang="en-US" sz="2400" b="0" dirty="0"/>
              <a:t>　→</a:t>
            </a:r>
            <a:r>
              <a:rPr lang="ja-JP" altLang="en-US" sz="2400" dirty="0"/>
              <a:t>車のブレーキ、ドリフト、ホイルスピンの音</a:t>
            </a:r>
            <a:r>
              <a:rPr lang="ja-JP" altLang="en-US" sz="2400" b="0" dirty="0"/>
              <a:t>を</a:t>
            </a:r>
            <a:br>
              <a:rPr lang="en-US" altLang="ja-JP" sz="2400" b="0" dirty="0"/>
            </a:br>
            <a:r>
              <a:rPr lang="ja-JP" altLang="en-US" sz="2400" b="0" dirty="0"/>
              <a:t>　　外部のフリー素材から取り込む</a:t>
            </a:r>
            <a:endParaRPr lang="en-US" altLang="ja-JP" sz="2400" b="0" dirty="0"/>
          </a:p>
          <a:p>
            <a:pPr marL="0" indent="0">
              <a:buNone/>
            </a:pPr>
            <a:r>
              <a:rPr lang="ja-JP" altLang="en-US" sz="2400" b="0" dirty="0"/>
              <a:t>　→</a:t>
            </a:r>
            <a:r>
              <a:rPr lang="ja-JP" altLang="en-US" sz="2400" dirty="0"/>
              <a:t>道路のテクスチャ</a:t>
            </a:r>
            <a:r>
              <a:rPr lang="ja-JP" altLang="en-US" sz="2400" b="0" dirty="0"/>
              <a:t>を外部のフリー素材から取り込む</a:t>
            </a:r>
            <a:endParaRPr lang="en-US" altLang="ja-JP" sz="2400" b="0" dirty="0"/>
          </a:p>
          <a:p>
            <a:pPr marL="0" indent="0">
              <a:buNone/>
            </a:pPr>
            <a:endParaRPr lang="en-US" altLang="ja-JP" sz="2400" b="0" dirty="0"/>
          </a:p>
          <a:p>
            <a:pPr marL="0" indent="0">
              <a:buNone/>
            </a:pPr>
            <a:endParaRPr kumimoji="1" lang="en-US" altLang="ja-JP" sz="2400" b="0" dirty="0"/>
          </a:p>
          <a:p>
            <a:pPr marL="0" indent="0">
              <a:buNone/>
            </a:pPr>
            <a:endParaRPr lang="en-US" altLang="ja-JP" sz="2400" b="0" dirty="0"/>
          </a:p>
          <a:p>
            <a:pPr marL="0" indent="0">
              <a:buNone/>
            </a:pPr>
            <a:endParaRPr kumimoji="1" lang="ja-JP" altLang="en-US" sz="2400" b="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C9AD6B-937A-6835-641B-17DB23427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D122-4A12-443E-AFFA-00859818A4C8}" type="datetime1">
              <a:rPr lang="ja-JP" altLang="en-US" smtClean="0"/>
              <a:pPr/>
              <a:t>2026/5/14</a:t>
            </a:fld>
            <a:r>
              <a:rPr lang="ja-JP" altLang="en-US" dirty="0"/>
              <a:t>　早稲田大学 石田航星研究室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F94940-5039-5AFF-1B20-8D4199095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1X21A040 </a:t>
            </a:r>
            <a:r>
              <a:rPr lang="ja-JP" altLang="en-US" dirty="0"/>
              <a:t>小川 遼</a:t>
            </a:r>
            <a:r>
              <a:rPr lang="en-US" altLang="ja-JP" dirty="0"/>
              <a:t> 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BB50DF-3D43-CDC3-688B-AB900AA3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6742-0BAD-4F8A-8C3F-24E1698D6075}" type="slidenum">
              <a:rPr lang="ja-JP" altLang="en-US" smtClean="0"/>
              <a:pPr/>
              <a:t>4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49887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E1D5F-149E-81DE-7C98-D7289C564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7A8A08-9DD2-1F9B-15FA-4BBCDFB9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75" y="-9340"/>
            <a:ext cx="7886700" cy="1325563"/>
          </a:xfrm>
        </p:spPr>
        <p:txBody>
          <a:bodyPr/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.</a:t>
            </a:r>
            <a:r>
              <a:rPr lang="ja-JP" altLang="en-US" dirty="0"/>
              <a:t>工夫した点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8CC726-4A18-9D5D-DEA1-874601BBC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24249"/>
            <a:ext cx="8515350" cy="5265119"/>
          </a:xfrm>
        </p:spPr>
        <p:txBody>
          <a:bodyPr anchor="t" anchorCtr="0">
            <a:normAutofit/>
          </a:bodyPr>
          <a:lstStyle/>
          <a:p>
            <a:r>
              <a:rPr lang="ja-JP" altLang="en-US" sz="2400" dirty="0"/>
              <a:t>細部へのこだわり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b="0" dirty="0"/>
              <a:t>　→</a:t>
            </a:r>
            <a:r>
              <a:rPr lang="ja-JP" altLang="en-US" sz="2400" dirty="0"/>
              <a:t>信号機を設置</a:t>
            </a:r>
            <a:r>
              <a:rPr lang="ja-JP" altLang="en-US" sz="2400" b="0" dirty="0"/>
              <a:t>し</a:t>
            </a:r>
            <a:r>
              <a:rPr lang="en-US" altLang="ja-JP" sz="2400" b="0" dirty="0"/>
              <a:t>NPC</a:t>
            </a:r>
            <a:r>
              <a:rPr lang="ja-JP" altLang="en-US" sz="2400" b="0" dirty="0"/>
              <a:t>も信号を守るようにプロンプト</a:t>
            </a:r>
            <a:endParaRPr lang="en-US" altLang="ja-JP" sz="2400" b="0" dirty="0"/>
          </a:p>
          <a:p>
            <a:pPr marL="0" indent="0">
              <a:buNone/>
            </a:pPr>
            <a:r>
              <a:rPr lang="ja-JP" altLang="en-US" sz="2400" b="0" dirty="0"/>
              <a:t>　→</a:t>
            </a:r>
            <a:r>
              <a:rPr lang="ja-JP" altLang="en-US" sz="2400" dirty="0"/>
              <a:t>コースのアートワークをこだわる。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b="0" dirty="0"/>
              <a:t>　→</a:t>
            </a:r>
            <a:r>
              <a:rPr lang="en-US" altLang="ja-JP" sz="2400" b="0" dirty="0"/>
              <a:t>NPC</a:t>
            </a:r>
            <a:r>
              <a:rPr lang="ja-JP" altLang="en-US" sz="2400" b="0" dirty="0"/>
              <a:t>には車の他</a:t>
            </a:r>
            <a:r>
              <a:rPr lang="ja-JP" altLang="en-US" sz="2400" dirty="0"/>
              <a:t>歩行者、自転車、バイクも追加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b="0" dirty="0"/>
              <a:t>　→</a:t>
            </a:r>
            <a:r>
              <a:rPr lang="ja-JP" altLang="en-US" sz="2400" dirty="0"/>
              <a:t>クオリティを追求するために幾度も</a:t>
            </a:r>
            <a:r>
              <a:rPr lang="en-US" altLang="ja-JP" sz="2400" dirty="0"/>
              <a:t>AI</a:t>
            </a:r>
            <a:r>
              <a:rPr lang="ja-JP" altLang="en-US" sz="2400" dirty="0"/>
              <a:t>にプロンプト</a:t>
            </a:r>
            <a:br>
              <a:rPr lang="en-US" altLang="ja-JP" sz="2400" b="0" dirty="0"/>
            </a:br>
            <a:r>
              <a:rPr lang="ja-JP" altLang="en-US" sz="2400" b="0" dirty="0"/>
              <a:t>　　した事が大変</a:t>
            </a:r>
            <a:endParaRPr lang="en-US" altLang="ja-JP" sz="2400" b="0" dirty="0"/>
          </a:p>
          <a:p>
            <a:pPr marL="0" indent="0">
              <a:buNone/>
            </a:pPr>
            <a:endParaRPr lang="en-US" altLang="ja-JP" sz="2400" dirty="0"/>
          </a:p>
          <a:p>
            <a:r>
              <a:rPr lang="ja-JP" altLang="en-US" sz="2400" dirty="0"/>
              <a:t>車の挙動の調整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b="0" dirty="0"/>
              <a:t>　→車の</a:t>
            </a:r>
            <a:r>
              <a:rPr lang="ja-JP" altLang="en-US" sz="2400" dirty="0"/>
              <a:t>ドリフト、サスペンション挙動</a:t>
            </a:r>
            <a:r>
              <a:rPr lang="ja-JP" altLang="en-US" sz="2400" b="0" dirty="0"/>
              <a:t>を再現した。</a:t>
            </a:r>
            <a:endParaRPr lang="en-US" altLang="ja-JP" sz="2400" b="0" dirty="0"/>
          </a:p>
          <a:p>
            <a:pPr marL="0" indent="0">
              <a:buNone/>
            </a:pPr>
            <a:r>
              <a:rPr lang="ja-JP" altLang="en-US" sz="2400" b="0" dirty="0"/>
              <a:t>　→</a:t>
            </a:r>
            <a:r>
              <a:rPr lang="ja-JP" altLang="en-US" sz="2400" dirty="0"/>
              <a:t>車種ごとに加速度や最高速度、ギア数</a:t>
            </a:r>
            <a:r>
              <a:rPr lang="ja-JP" altLang="en-US" sz="2400" b="0" dirty="0"/>
              <a:t>を調整</a:t>
            </a:r>
            <a:endParaRPr lang="en-US" altLang="ja-JP" sz="2400" b="0" dirty="0"/>
          </a:p>
          <a:p>
            <a:pPr marL="0" indent="0">
              <a:buNone/>
            </a:pPr>
            <a:r>
              <a:rPr lang="ja-JP" altLang="en-US" sz="2400" b="0" dirty="0"/>
              <a:t>　→</a:t>
            </a:r>
            <a:r>
              <a:rPr lang="ja-JP" altLang="en-US" sz="2400" dirty="0"/>
              <a:t>それぞれにセリフ、性格を持ったキャラクター</a:t>
            </a:r>
            <a:r>
              <a:rPr lang="ja-JP" altLang="en-US" sz="2400" b="0" dirty="0"/>
              <a:t>の追加</a:t>
            </a:r>
            <a:endParaRPr lang="en-US" altLang="ja-JP" sz="2400" b="0" dirty="0"/>
          </a:p>
          <a:p>
            <a:pPr marL="0" indent="0">
              <a:buNone/>
            </a:pPr>
            <a:r>
              <a:rPr lang="ja-JP" altLang="en-US" sz="2400" b="0" dirty="0"/>
              <a:t>　→</a:t>
            </a:r>
            <a:r>
              <a:rPr lang="ja-JP" altLang="en-US" sz="2400" dirty="0"/>
              <a:t>パターンが多くそれぞれを</a:t>
            </a:r>
            <a:r>
              <a:rPr lang="en-US" altLang="ja-JP" sz="2400" dirty="0"/>
              <a:t>AI</a:t>
            </a:r>
            <a:r>
              <a:rPr lang="ja-JP" altLang="en-US" sz="2400" dirty="0"/>
              <a:t>にプロンプト</a:t>
            </a:r>
            <a:r>
              <a:rPr lang="ja-JP" altLang="en-US" sz="2400" b="0" dirty="0"/>
              <a:t>した事が大変</a:t>
            </a:r>
            <a:endParaRPr lang="en-US" altLang="ja-JP" sz="2400" b="0" dirty="0"/>
          </a:p>
          <a:p>
            <a:pPr marL="0" indent="0">
              <a:buNone/>
            </a:pPr>
            <a:endParaRPr lang="en-US" altLang="ja-JP" sz="2400" b="0" dirty="0"/>
          </a:p>
          <a:p>
            <a:pPr marL="0" indent="0">
              <a:buNone/>
            </a:pPr>
            <a:endParaRPr kumimoji="1" lang="en-US" altLang="ja-JP" sz="2400" b="0" dirty="0"/>
          </a:p>
          <a:p>
            <a:pPr marL="0" indent="0">
              <a:buNone/>
            </a:pPr>
            <a:endParaRPr lang="en-US" altLang="ja-JP" sz="2400" b="0" dirty="0"/>
          </a:p>
          <a:p>
            <a:pPr marL="0" indent="0">
              <a:buNone/>
            </a:pPr>
            <a:endParaRPr kumimoji="1" lang="ja-JP" altLang="en-US" sz="2400" b="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8E169C-CB2B-7A56-26BC-77B36C539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D122-4A12-443E-AFFA-00859818A4C8}" type="datetime1">
              <a:rPr lang="ja-JP" altLang="en-US" smtClean="0"/>
              <a:pPr/>
              <a:t>2026/5/14</a:t>
            </a:fld>
            <a:r>
              <a:rPr lang="ja-JP" altLang="en-US" dirty="0"/>
              <a:t>　早稲田大学 石田航星研究室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6FCCE3-4E8E-7DB2-A830-78165123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1X21A040 </a:t>
            </a:r>
            <a:r>
              <a:rPr lang="ja-JP" altLang="en-US" dirty="0"/>
              <a:t>小川 遼</a:t>
            </a:r>
            <a:r>
              <a:rPr lang="en-US" altLang="ja-JP" dirty="0"/>
              <a:t> 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601601-0330-EAF5-B8F3-2E79F10DE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6742-0BAD-4F8A-8C3F-24E1698D6075}" type="slidenum">
              <a:rPr lang="ja-JP" altLang="en-US" smtClean="0"/>
              <a:pPr/>
              <a:t>5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71345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A8E69-066E-D97A-B041-8B3FF80FD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0B3DB3-2186-D9C3-2B46-BA5FC6732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75" y="-9340"/>
            <a:ext cx="7886700" cy="1325563"/>
          </a:xfrm>
        </p:spPr>
        <p:txBody>
          <a:bodyPr/>
          <a:lstStyle/>
          <a:p>
            <a:r>
              <a:rPr lang="en-US" altLang="ja-JP" dirty="0"/>
              <a:t>4</a:t>
            </a:r>
            <a:r>
              <a:rPr kumimoji="1" lang="en-US" altLang="ja-JP" dirty="0"/>
              <a:t>.</a:t>
            </a:r>
            <a:r>
              <a:rPr kumimoji="1" lang="ja-JP" altLang="en-US" dirty="0"/>
              <a:t>将来の展望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E4E31E-4026-F98A-9D0B-63CC2DAAB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24249"/>
            <a:ext cx="8515350" cy="5265119"/>
          </a:xfrm>
        </p:spPr>
        <p:txBody>
          <a:bodyPr anchor="t" anchorCtr="0">
            <a:normAutofit/>
          </a:bodyPr>
          <a:lstStyle/>
          <a:p>
            <a:r>
              <a:rPr lang="ja-JP" altLang="en-US" sz="2400" dirty="0"/>
              <a:t>最適化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b="0" dirty="0"/>
              <a:t>　→</a:t>
            </a:r>
            <a:r>
              <a:rPr lang="ja-JP" altLang="en-US" sz="2400" dirty="0"/>
              <a:t>現状かなり重く</a:t>
            </a:r>
            <a:r>
              <a:rPr lang="ja-JP" altLang="en-US" sz="2400" b="0" dirty="0"/>
              <a:t>最悪クラッシュしてしまう。</a:t>
            </a:r>
            <a:endParaRPr lang="en-US" altLang="ja-JP" sz="2400" b="0" dirty="0"/>
          </a:p>
          <a:p>
            <a:pPr marL="0" indent="0">
              <a:buNone/>
            </a:pPr>
            <a:r>
              <a:rPr lang="ja-JP" altLang="en-US" sz="2400" b="0" dirty="0"/>
              <a:t>　→どうにかして</a:t>
            </a:r>
            <a:r>
              <a:rPr lang="ja-JP" altLang="en-US" sz="2400" dirty="0"/>
              <a:t>軽くできないか</a:t>
            </a:r>
            <a:r>
              <a:rPr lang="ja-JP" altLang="en-US" sz="2400" b="0" dirty="0"/>
              <a:t>。</a:t>
            </a:r>
            <a:endParaRPr lang="en-US" altLang="ja-JP" sz="2400" b="0" dirty="0"/>
          </a:p>
          <a:p>
            <a:pPr marL="0" indent="0">
              <a:buNone/>
            </a:pPr>
            <a:endParaRPr lang="en-US" altLang="ja-JP" sz="2400" b="0" dirty="0"/>
          </a:p>
          <a:p>
            <a:r>
              <a:rPr lang="ja-JP" altLang="en-US" sz="2400" dirty="0"/>
              <a:t>西早稲田マップの追加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b="0" dirty="0"/>
              <a:t>　→</a:t>
            </a:r>
            <a:r>
              <a:rPr lang="en-US" altLang="ja-JP" sz="2400" dirty="0"/>
              <a:t>GIS</a:t>
            </a:r>
            <a:r>
              <a:rPr lang="ja-JP" altLang="en-US" sz="2400" dirty="0"/>
              <a:t>で地図・構造物のデータ</a:t>
            </a:r>
            <a:r>
              <a:rPr lang="ja-JP" altLang="en-US" sz="2400" b="0" dirty="0"/>
              <a:t>を利用</a:t>
            </a:r>
            <a:endParaRPr lang="en-US" altLang="ja-JP" sz="2400" b="0" dirty="0"/>
          </a:p>
          <a:p>
            <a:pPr marL="0" indent="0">
              <a:buNone/>
            </a:pPr>
            <a:r>
              <a:rPr lang="ja-JP" altLang="en-US" sz="2400" b="0" dirty="0"/>
              <a:t>　→</a:t>
            </a:r>
            <a:r>
              <a:rPr lang="ja-JP" altLang="en-US" sz="2400" dirty="0"/>
              <a:t>よりリアルなドライビングシュミレーター</a:t>
            </a:r>
            <a:r>
              <a:rPr lang="ja-JP" altLang="en-US" sz="2400" b="0" dirty="0"/>
              <a:t>に</a:t>
            </a:r>
            <a:endParaRPr lang="en-US" altLang="ja-JP" sz="2400" b="0" dirty="0"/>
          </a:p>
          <a:p>
            <a:pPr marL="0" indent="0">
              <a:buNone/>
            </a:pPr>
            <a:endParaRPr lang="en-US" altLang="ja-JP" sz="2400" b="0" dirty="0"/>
          </a:p>
          <a:p>
            <a:r>
              <a:rPr lang="ja-JP" altLang="en-US" sz="2400" dirty="0"/>
              <a:t>より車らしい挙動の追加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b="0" dirty="0"/>
              <a:t>　→車種ごとの挙動の違いをさらに細かく</a:t>
            </a:r>
            <a:endParaRPr lang="en-US" altLang="ja-JP" sz="2400" b="0" dirty="0"/>
          </a:p>
          <a:p>
            <a:pPr marL="0" indent="0">
              <a:buNone/>
            </a:pPr>
            <a:r>
              <a:rPr lang="ja-JP" altLang="en-US" sz="2400" b="0" dirty="0"/>
              <a:t>　→</a:t>
            </a:r>
            <a:r>
              <a:rPr lang="ja-JP" altLang="en-US" sz="2400" dirty="0"/>
              <a:t>エンジン音</a:t>
            </a:r>
            <a:r>
              <a:rPr lang="ja-JP" altLang="en-US" sz="2400" b="0" dirty="0"/>
              <a:t>等を追加しよりリアルな走行を再現</a:t>
            </a:r>
            <a:endParaRPr lang="en-US" altLang="ja-JP" sz="2400" b="0" dirty="0"/>
          </a:p>
          <a:p>
            <a:pPr marL="0" indent="0">
              <a:buNone/>
            </a:pPr>
            <a:endParaRPr lang="en-US" altLang="ja-JP" sz="2400" b="0" dirty="0"/>
          </a:p>
          <a:p>
            <a:pPr marL="0" indent="0">
              <a:buNone/>
            </a:pPr>
            <a:endParaRPr kumimoji="1" lang="en-US" altLang="ja-JP" sz="2400" b="0" dirty="0"/>
          </a:p>
          <a:p>
            <a:pPr marL="0" indent="0">
              <a:buNone/>
            </a:pPr>
            <a:endParaRPr lang="en-US" altLang="ja-JP" sz="2400" b="0" dirty="0"/>
          </a:p>
          <a:p>
            <a:pPr marL="0" indent="0">
              <a:buNone/>
            </a:pPr>
            <a:endParaRPr kumimoji="1" lang="ja-JP" altLang="en-US" sz="2400" b="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DF6AEB-AE20-40B9-40A7-BECF107E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D122-4A12-443E-AFFA-00859818A4C8}" type="datetime1">
              <a:rPr lang="ja-JP" altLang="en-US" smtClean="0"/>
              <a:pPr/>
              <a:t>2026/5/14</a:t>
            </a:fld>
            <a:r>
              <a:rPr lang="ja-JP" altLang="en-US" dirty="0"/>
              <a:t>　早稲田大学 石田航星研究室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9576E9-E802-541E-C79D-D70550841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/>
              <a:t>1X21A040 </a:t>
            </a:r>
            <a:r>
              <a:rPr lang="ja-JP" altLang="en-US" dirty="0"/>
              <a:t>小川 遼</a:t>
            </a:r>
            <a:r>
              <a:rPr lang="en-US" altLang="ja-JP" dirty="0"/>
              <a:t> 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E6E7E2-30E8-286C-DDE3-8609945A3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6742-0BAD-4F8A-8C3F-24E1698D6075}" type="slidenum">
              <a:rPr lang="ja-JP" altLang="en-US" smtClean="0"/>
              <a:pPr/>
              <a:t>6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4901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689</TotalTime>
  <Words>693</Words>
  <Application>Microsoft Office PowerPoint</Application>
  <PresentationFormat>画面に合わせる (4:3)</PresentationFormat>
  <Paragraphs>92</Paragraphs>
  <Slides>6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Ebrima</vt:lpstr>
      <vt:lpstr>Office テーマ</vt:lpstr>
      <vt:lpstr>PowerPoint プレゼンテーション</vt:lpstr>
      <vt:lpstr>1.ゲーム内容</vt:lpstr>
      <vt:lpstr>1.ゲーム内容</vt:lpstr>
      <vt:lpstr>2.制作理由・使用した技術と素材</vt:lpstr>
      <vt:lpstr>3.工夫した点</vt:lpstr>
      <vt:lpstr>4.将来の展望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ogawaryo22</dc:creator>
  <cp:lastModifiedBy>ogawaryo22</cp:lastModifiedBy>
  <cp:revision>91</cp:revision>
  <cp:lastPrinted>2026-04-16T03:16:45Z</cp:lastPrinted>
  <dcterms:created xsi:type="dcterms:W3CDTF">2026-04-14T07:24:17Z</dcterms:created>
  <dcterms:modified xsi:type="dcterms:W3CDTF">2026-05-14T04:47:04Z</dcterms:modified>
</cp:coreProperties>
</file>